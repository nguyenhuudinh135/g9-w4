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FE7624"/>
                </a:solidFill>
                <a:latin typeface="Plus Jakarta Sans"/>
              </a:defRPr>
            </a:pPr>
            <a:r>
              <a:t>WEEK 4  •  GROUP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defRPr sz="4800" b="1">
                <a:solidFill>
                  <a:srgbClr val="FFFFFF"/>
                </a:solidFill>
                <a:latin typeface="Plus Jakarta Sans"/>
              </a:defRPr>
            </a:pPr>
            <a:r>
              <a:t>GeekBrain</a:t>
            </a:r>
            <a:br/>
            <a:r>
              <a:t>AI Assistant.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FE7624"/>
                </a:solidFill>
                <a:latin typeface="Plus Jakarta Sans"/>
              </a:defRPr>
            </a:pPr>
            <a:r>
              <a:t>RAG + Tool Calling +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C4D5DD"/>
                </a:solidFill>
                <a:latin typeface="Plus Jakarta Sans"/>
              </a:defRPr>
            </a:pPr>
            <a:r>
              <a:t>Le Hoang Trung Kien  •  Tran Dinh Bao Long  •  Nguyen Duc Chinh  •  Nguyen Huu Dinh</a:t>
            </a:r>
          </a:p>
          <a:p>
            <a:pPr>
              <a:spcBef>
                <a:spcPts val="400"/>
              </a:spcBef>
              <a:defRPr sz="1300">
                <a:solidFill>
                  <a:srgbClr val="C4D5DD"/>
                </a:solidFill>
                <a:latin typeface="Plus Jakarta Sans"/>
              </a:defRPr>
            </a:pPr>
            <a:r>
              <a:t>Truong Thi My Quyen  •  Tran Van Duc  •  Hoang Trong Tan  •  Le Duy Khanh</a:t>
            </a:r>
          </a:p>
          <a:p>
            <a:pPr>
              <a:spcBef>
                <a:spcPts val="400"/>
              </a:spcBef>
              <a:defRPr sz="1300">
                <a:solidFill>
                  <a:srgbClr val="C4D5DD"/>
                </a:solidFill>
                <a:latin typeface="Plus Jakarta Sans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4D5DD"/>
                </a:solidFill>
                <a:latin typeface="Plus Jakarta Sans"/>
              </a:defRPr>
            </a:pPr>
            <a:r>
              <a:t>Mentor: Anh Quang Phung (QA Lead, TechX)</a:t>
            </a:r>
          </a:p>
          <a:p>
            <a:pPr>
              <a:spcBef>
                <a:spcPts val="400"/>
              </a:spcBef>
              <a:defRPr sz="1300">
                <a:solidFill>
                  <a:srgbClr val="C4D5DD"/>
                </a:solidFill>
                <a:latin typeface="Plus Jakarta Sans"/>
              </a:defRPr>
            </a:pPr>
            <a:r>
              <a:t>LLM: DeepSeek V3.2 via Amazon Bedrock  •  Framework: Bedrock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E293B"/>
                </a:solidFill>
                <a:latin typeface="Plus Jakarta Sans"/>
              </a:defRPr>
            </a:pPr>
            <a:r>
              <a:t>What we'll cover.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FE7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651760" cy="63500"/>
          </a:xfrm>
          <a:prstGeom prst="rect">
            <a:avLst/>
          </a:prstGeom>
          <a:solidFill>
            <a:srgbClr val="FE7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01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System diagram, key decisions,</a:t>
            </a:r>
            <a:br/>
            <a:r>
              <a:t>data flow through the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7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651760" cy="63500"/>
          </a:xfrm>
          <a:prstGeom prst="rect">
            <a:avLst/>
          </a:prstGeom>
          <a:solidFill>
            <a:srgbClr val="007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02  Individual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2316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Random members explain how</a:t>
            </a:r>
            <a:br/>
            <a:r>
              <a:t>the system works internally.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A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651760" cy="63500"/>
          </a:xfrm>
          <a:prstGeom prst="rect">
            <a:avLst/>
          </a:prstGeom>
          <a:solidFill>
            <a:srgbClr val="00A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03 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L1 → L2 → L3 → L4</a:t>
            </a:r>
            <a:br/>
            <a:r>
              <a:t>progressive demonstration.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854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651760" cy="63500"/>
          </a:xfrm>
          <a:prstGeom prst="rect">
            <a:avLst/>
          </a:prstGeom>
          <a:solidFill>
            <a:srgbClr val="854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04  Lessons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2316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Hardest level and what</a:t>
            </a:r>
            <a:br/>
            <a:r>
              <a:t>we would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0"/>
              </a:lnSpc>
              <a:defRPr sz="12000" b="1">
                <a:solidFill>
                  <a:srgbClr val="2D3A55"/>
                </a:solidFill>
                <a:latin typeface="Plus Jakarta San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BAE42"/>
                </a:solidFill>
                <a:latin typeface="Plus Jakarta Sans"/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Plus Jakarta Sans"/>
              </a:defRPr>
            </a:pPr>
            <a:r>
              <a:t>System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C4D5DD"/>
                </a:solidFill>
                <a:latin typeface="Plus Jakarta Sans"/>
              </a:defRPr>
            </a:pPr>
            <a:r>
              <a:t>How requests flow through Bedrock Agent, Knowledge Base, and Tools</a:t>
            </a:r>
            <a:br/>
            <a:r>
              <a:t>— all on AWS with no NAT Gateway.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01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E293B"/>
                </a:solidFill>
                <a:latin typeface="Plus Jakarta Sans"/>
              </a:defRPr>
            </a:pPr>
            <a:r>
              <a:t>System Architecture.</a:t>
            </a:r>
          </a:p>
        </p:txBody>
      </p:sp>
      <p:pic>
        <p:nvPicPr>
          <p:cNvPr id="4" name="Picture 3" descr="w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979777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01 •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E293B"/>
                </a:solidFill>
                <a:latin typeface="Plus Jakarta Sans"/>
              </a:defRPr>
            </a:pPr>
            <a:r>
              <a:t>Key Technical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A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63500"/>
          </a:xfrm>
          <a:prstGeom prst="rect">
            <a:avLst/>
          </a:prstGeom>
          <a:solidFill>
            <a:srgbClr val="00A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Bedrock Agents vs Custom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Managed orchestration. Agent handles</a:t>
            </a:r>
            <a:br/>
            <a:r>
              <a:t>KB retrieval + tool routing automatically.</a:t>
            </a:r>
            <a:br/>
            <a:r>
              <a:t>Less control, faster to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7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63500"/>
          </a:xfrm>
          <a:prstGeom prst="rect">
            <a:avLst/>
          </a:prstGeom>
          <a:solidFill>
            <a:srgbClr val="007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VPC Interface Endpoint (No NAT)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VPC Endpoint for execute-api.</a:t>
            </a:r>
            <a:br/>
            <a:r>
              <a:t>Traffic stays on AWS backbone.</a:t>
            </a:r>
            <a:br/>
            <a:r>
              <a:t>No NAT Gateway needed — saves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B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212080" cy="63500"/>
          </a:xfrm>
          <a:prstGeom prst="rect">
            <a:avLst/>
          </a:prstGeom>
          <a:solidFill>
            <a:srgbClr val="00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Lambda Chat Outside VPC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No vpc_config — calls Bedrock via</a:t>
            </a:r>
            <a:br/>
            <a:r>
              <a:t>AWS internal network. Avoids cold</a:t>
            </a:r>
            <a:br/>
            <a:r>
              <a:t>start ENI delays (5-10s).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21208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What Didn't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DeepSeek V3.2 via Terraform</a:t>
            </a:r>
            <a:br/>
            <a:r>
              <a:t>foundation_model param failed.</a:t>
            </a:r>
            <a:br/>
            <a:r>
              <a:t>Fix: lifecycle { ignore_changes }</a:t>
            </a:r>
            <a:br/>
            <a:r>
              <a:t>+ manual console config.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01 •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E293B"/>
                </a:solidFill>
                <a:latin typeface="Plus Jakarta Sans"/>
              </a:defRPr>
            </a:pPr>
            <a:r>
              <a:t>Request Flow &amp; Orchestration Loop.</a:t>
            </a:r>
          </a:p>
        </p:txBody>
      </p:sp>
      <p:pic>
        <p:nvPicPr>
          <p:cNvPr id="4" name="Picture 3" descr="w4_reques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51230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01 • TOOL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E293B"/>
                </a:solidFill>
                <a:latin typeface="Plus Jakarta Sans"/>
              </a:defRPr>
            </a:pPr>
            <a:r>
              <a:t>Agent Decision Logic — KB vs Tools.</a:t>
            </a:r>
          </a:p>
        </p:txBody>
      </p:sp>
      <p:pic>
        <p:nvPicPr>
          <p:cNvPr id="4" name="Picture 3" descr="w4_tool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87307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0"/>
              </a:lnSpc>
              <a:defRPr sz="12000" b="1">
                <a:solidFill>
                  <a:srgbClr val="2D3A55"/>
                </a:solidFill>
                <a:latin typeface="Plus Jakarta San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BAE42"/>
                </a:solidFill>
                <a:latin typeface="Plus Jakarta Sans"/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Plus Jakarta Sans"/>
              </a:defRPr>
            </a:pPr>
            <a:r>
              <a:t>Live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C4D5DD"/>
                </a:solidFill>
                <a:latin typeface="Plus Jakarta Sans"/>
              </a:defRPr>
            </a:pPr>
            <a:r>
              <a:t>L1 → L2 → L3 → L4 — progressive levels of AI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00AC4E"/>
                </a:solidFill>
                <a:latin typeface="Plus Jakarta Sans"/>
              </a:defRPr>
            </a:pPr>
            <a:r>
              <a:t>L1 •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L1 — Simple RAG (Retrieval).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D4E4E"/>
                </a:solidFill>
                <a:latin typeface="Plus Jakarta Sans"/>
              </a:defRPr>
            </a:pPr>
            <a:r>
              <a:t>36 markdown docs → Titan Embed v2 (1024d) → OpenSearch Serverless → top-K chunks → answer + source citation</a:t>
            </a:r>
          </a:p>
        </p:txBody>
      </p:sp>
      <p:pic>
        <p:nvPicPr>
          <p:cNvPr id="5" name="Picture 4" descr="l1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5669280" cy="3188970"/>
          </a:xfrm>
          <a:prstGeom prst="rect">
            <a:avLst/>
          </a:prstGeom>
        </p:spPr>
      </p:pic>
      <p:pic>
        <p:nvPicPr>
          <p:cNvPr id="6" name="Picture 5" descr="l1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669280" cy="31877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007BC1"/>
                </a:solidFill>
                <a:latin typeface="Plus Jakarta Sans"/>
              </a:defRPr>
            </a:pPr>
            <a:r>
              <a:t>L2 • MULTI-SOURCE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L2 — Multi-Source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D4E4E"/>
                </a:solidFill>
                <a:latin typeface="Plus Jakarta Sans"/>
              </a:defRPr>
            </a:pPr>
            <a:r>
              <a:t>Multi-doc synthesis &amp; conflict resolution. Agent prefers most recent version (status='current' over 'archived')</a:t>
            </a:r>
          </a:p>
        </p:txBody>
      </p:sp>
      <p:pic>
        <p:nvPicPr>
          <p:cNvPr id="5" name="Picture 4" descr="l2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5669280" cy="3188970"/>
          </a:xfrm>
          <a:prstGeom prst="rect">
            <a:avLst/>
          </a:prstGeom>
        </p:spPr>
      </p:pic>
      <p:pic>
        <p:nvPicPr>
          <p:cNvPr id="6" name="Picture 5" descr="l2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669280" cy="31877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L3 •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L3 — Tool-Augmented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D4E4E"/>
                </a:solidFill>
                <a:latin typeface="Plus Jakarta Sans"/>
              </a:defRPr>
            </a:pPr>
            <a:r>
              <a:t>6 tools: query_database, get_service_metrics, get_service_status, list_services, get_incident_history, compare_services</a:t>
            </a:r>
          </a:p>
        </p:txBody>
      </p:sp>
      <p:pic>
        <p:nvPicPr>
          <p:cNvPr id="5" name="Picture 4" descr="l3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5669280" cy="3188970"/>
          </a:xfrm>
          <a:prstGeom prst="rect">
            <a:avLst/>
          </a:prstGeom>
        </p:spPr>
      </p:pic>
      <p:pic>
        <p:nvPicPr>
          <p:cNvPr id="6" name="Picture 5" descr="l3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669280" cy="3186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85439A"/>
                </a:solidFill>
                <a:latin typeface="Plus Jakarta Sans"/>
              </a:defRPr>
            </a:pPr>
            <a:r>
              <a:t>L4 •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L4 — Memory (Multi-turn).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D4E4E"/>
                </a:solidFill>
                <a:latin typeface="Plus Jakarta Sans"/>
              </a:defRPr>
            </a:pPr>
            <a:r>
              <a:t>Bedrock Agent sessionId (TTL: 1800s). Pronouns like "its costs" and "that service" resolved across turns.</a:t>
            </a:r>
          </a:p>
        </p:txBody>
      </p:sp>
      <p:pic>
        <p:nvPicPr>
          <p:cNvPr id="5" name="Picture 4" descr="l4_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813672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BONUS A •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Observability Dashboard (+0.5)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D4E4E"/>
                </a:solidFill>
                <a:latin typeface="Plus Jakarta Sans"/>
              </a:defRPr>
            </a:pPr>
            <a:r>
              <a:t>Pipeline internals: source tags (green), tool badges (purple), query details, full orchestration trace.</a:t>
            </a:r>
          </a:p>
        </p:txBody>
      </p:sp>
      <p:pic>
        <p:nvPicPr>
          <p:cNvPr id="5" name="Picture 4" descr="bonus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81334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BONUS C • KB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1E293B"/>
                </a:solidFill>
                <a:latin typeface="Plus Jakarta Sans"/>
              </a:defRPr>
            </a:pPr>
            <a:r>
              <a:t>Knowledge Base Auto-Sync (+0.5)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FE7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63500"/>
          </a:xfrm>
          <a:prstGeom prst="rect">
            <a:avLst/>
          </a:prstGeom>
          <a:solidFill>
            <a:srgbClr val="FE7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01  Detect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MD5 hash trigger detects</a:t>
            </a:r>
            <a:br/>
            <a:r>
              <a:t>.md file updates in S3.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7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63500"/>
          </a:xfrm>
          <a:prstGeom prst="rect">
            <a:avLst/>
          </a:prstGeom>
          <a:solidFill>
            <a:srgbClr val="007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02  Start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null_resource.kb_sync runs</a:t>
            </a:r>
            <a:br/>
            <a:r>
              <a:t>aws bedrock-agent</a:t>
            </a:r>
            <a:br/>
            <a:r>
              <a:t>start-ingestion-job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00A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63500"/>
          </a:xfrm>
          <a:prstGeom prst="rect">
            <a:avLst/>
          </a:prstGeom>
          <a:solidFill>
            <a:srgbClr val="00A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03  Poll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Polls until COMPLETE.</a:t>
            </a:r>
            <a:br/>
            <a:r>
              <a:t>Timeout: 10 min.</a:t>
            </a:r>
            <a:br/>
            <a:r>
              <a:t>Fully automated via Terraform.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98695"/>
                </a:solidFill>
                <a:latin typeface="JetBrains Mono"/>
              </a:defRPr>
            </a:pPr>
            <a:r>
              <a:t>Evidence: terraform/modules/ai_engine/main.tf — kb_sync resource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E7624"/>
                </a:solidFill>
                <a:latin typeface="Plus Jakarta Sans"/>
              </a:defRPr>
            </a:pPr>
            <a:r>
              <a:t>04 •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E293B"/>
                </a:solidFill>
                <a:latin typeface="Plus Jakarta Sans"/>
              </a:defRPr>
            </a:pPr>
            <a:r>
              <a:t>Lessons Learned.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C4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Hardest Level: 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C4D5DD"/>
                </a:solidFill>
                <a:latin typeface="Plus Jakarta Sans"/>
              </a:defRPr>
            </a:pPr>
            <a:r>
              <a:t>Tool descriptions must be</a:t>
            </a:r>
            <a:br/>
            <a:r>
              <a:t>extremely precise.</a:t>
            </a:r>
            <a:br/>
            <a:br/>
            <a:r>
              <a:t>"Gets data" → useless.</a:t>
            </a:r>
            <a:br/>
            <a:r>
              <a:t>"Returns CURRENT live metrics;</a:t>
            </a:r>
            <a:br/>
            <a:r>
              <a:t>for HISTORICAL data use</a:t>
            </a:r>
            <a:br/>
            <a:r>
              <a:t>query_database" → works.</a:t>
            </a:r>
            <a:br/>
            <a:br/>
            <a:r>
              <a:t>Iterated multiple times before</a:t>
            </a:r>
            <a:br/>
            <a:r>
              <a:t>agent routed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FE7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63500"/>
          </a:xfrm>
          <a:prstGeom prst="rect">
            <a:avLst/>
          </a:prstGeom>
          <a:solidFill>
            <a:srgbClr val="FE7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1E293B"/>
                </a:solidFill>
                <a:latin typeface="Plus Jakarta Sans"/>
              </a:defRPr>
            </a:pPr>
            <a:r>
              <a:t>What we'd do differently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4D4E4E"/>
                </a:solidFill>
                <a:latin typeface="Plus Jakarta Sans"/>
              </a:defRPr>
            </a:pPr>
            <a:r>
              <a:t>• Add query rewriting for L4</a:t>
            </a:r>
            <a:br/>
            <a:r>
              <a:t>  (pronouns → explicit references)</a:t>
            </a:r>
            <a:br/>
            <a:br/>
            <a:r>
              <a:t>• Automated testing with</a:t>
            </a:r>
            <a:br/>
            <a:r>
              <a:t>  question JSON files</a:t>
            </a:r>
            <a:br/>
            <a:br/>
            <a:r>
              <a:t>• Fallback error messages when</a:t>
            </a:r>
            <a:br/>
            <a:r>
              <a:t>  Monitoring API is unreachable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FFFFFF"/>
                </a:solidFill>
                <a:latin typeface="Plus Jakarta San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600"/>
              </a:lnSpc>
              <a:defRPr sz="2200" b="0">
                <a:solidFill>
                  <a:srgbClr val="FE7624"/>
                </a:solidFill>
                <a:latin typeface="Plus Jakarta Sans"/>
              </a:defRPr>
            </a:pPr>
            <a:r>
              <a:t>Group 9 — GeekBrain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C4D5DD"/>
                </a:solidFill>
                <a:latin typeface="Plus Jakarta Sans"/>
              </a:defRPr>
            </a:pPr>
            <a:r>
              <a:t>Evidence Pack: docs/W4_evidence.md</a:t>
            </a:r>
          </a:p>
          <a:p>
            <a:pPr>
              <a:spcBef>
                <a:spcPts val="400"/>
              </a:spcBef>
              <a:defRPr sz="1400">
                <a:solidFill>
                  <a:srgbClr val="C4D5DD"/>
                </a:solidFill>
                <a:latin typeface="Plus Jakarta Sans"/>
              </a:defRPr>
            </a:pPr>
            <a:r>
              <a:t>Repo: github.com/hoang-trong-tan/G9-W4</a:t>
            </a:r>
          </a:p>
          <a:p>
            <a:pPr>
              <a:spcBef>
                <a:spcPts val="400"/>
              </a:spcBef>
              <a:defRPr sz="1400">
                <a:solidFill>
                  <a:srgbClr val="C4D5DD"/>
                </a:solidFill>
                <a:latin typeface="Plus Jakarta Sans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C4D5DD"/>
                </a:solidFill>
                <a:latin typeface="Plus Jakarta San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