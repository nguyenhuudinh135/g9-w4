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GeekBrain AI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E7624"/>
                </a:solidFill>
                <a:latin typeface="Calibri"/>
              </a:defRPr>
            </a:pPr>
            <a:r>
              <a:t>Week 4 — RAG + Tools +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C4D5DD"/>
                </a:solidFill>
                <a:latin typeface="Calibri"/>
              </a:defRPr>
            </a:pPr>
            <a:r>
              <a:t>Group 9</a:t>
            </a:r>
          </a:p>
          <a:p>
            <a:pPr>
              <a:spcBef>
                <a:spcPts val="600"/>
              </a:spcBef>
              <a:defRPr sz="1600">
                <a:solidFill>
                  <a:srgbClr val="C4D5DD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C4D5DD"/>
                </a:solidFill>
                <a:latin typeface="Calibri"/>
              </a:defRPr>
            </a:pPr>
            <a:r>
              <a:t>Le Hoang Trung Kien  •  Tran Dinh Bao Long  •  Nguyen Duc Chinh</a:t>
            </a:r>
          </a:p>
          <a:p>
            <a:pPr>
              <a:spcBef>
                <a:spcPts val="600"/>
              </a:spcBef>
              <a:defRPr sz="1600">
                <a:solidFill>
                  <a:srgbClr val="C4D5DD"/>
                </a:solidFill>
                <a:latin typeface="Calibri"/>
              </a:defRPr>
            </a:pPr>
            <a:r>
              <a:t>Nguyen Huu Dinh  •  Truong Thi My Quyen  •  Tran Van Duc  •  Hoang Trong Tan</a:t>
            </a:r>
          </a:p>
          <a:p>
            <a:pPr>
              <a:spcBef>
                <a:spcPts val="600"/>
              </a:spcBef>
              <a:defRPr sz="1600">
                <a:solidFill>
                  <a:srgbClr val="C4D5DD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C4D5DD"/>
                </a:solidFill>
                <a:latin typeface="Calibri"/>
              </a:defRPr>
            </a:pPr>
            <a:r>
              <a:t>Mentor: Anh Quang Phung (Quality Assurance Lead, TechX)</a:t>
            </a:r>
          </a:p>
          <a:p>
            <a:pPr>
              <a:spcBef>
                <a:spcPts val="600"/>
              </a:spcBef>
              <a:defRPr sz="1600">
                <a:solidFill>
                  <a:srgbClr val="C4D5DD"/>
                </a:solidFill>
                <a:latin typeface="Calibri"/>
              </a:defRPr>
            </a:pPr>
            <a:r>
              <a:t>LLM: DeepSeek V3.2 via Amazon Bedrock</a:t>
            </a:r>
          </a:p>
          <a:p>
            <a:pPr>
              <a:spcBef>
                <a:spcPts val="600"/>
              </a:spcBef>
              <a:defRPr sz="1600">
                <a:solidFill>
                  <a:srgbClr val="C4D5DD"/>
                </a:solidFill>
                <a:latin typeface="Calibri"/>
              </a:defRPr>
            </a:pPr>
            <a:r>
              <a:t>Framework: Amazon Bedrock Agents (managed orchestration)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E7624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What we'll cover today.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1.  Architecture Overview  (3 min)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     System diagram  •  Key decisions  •  Data flow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2.  Individual Q&amp;A  (3 min)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     Random members explain system internals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3.  Live Demo  (4-5 min)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     L1 → L2 → L3 → L4 progressive demonstration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4.  Lessons Learned  (1 min)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     Hardest level  •  What we'd change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E7624"/>
                </a:solidFill>
                <a:latin typeface="Calibri"/>
              </a:defRPr>
            </a:pPr>
            <a:r>
              <a:t>01 •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System Architecture</a:t>
            </a:r>
          </a:p>
        </p:txBody>
      </p:sp>
      <p:pic>
        <p:nvPicPr>
          <p:cNvPr id="4" name="Picture 3" descr="w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7217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E7624"/>
                </a:solidFill>
                <a:latin typeface="Calibri"/>
              </a:defRPr>
            </a:pPr>
            <a:r>
              <a:t>01 •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Key Technical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▸ Bedrock Agents vs Custom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7452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D4E4E"/>
                </a:solidFill>
                <a:latin typeface="Calibri"/>
              </a:defRPr>
            </a:pPr>
            <a:r>
              <a:t>Chose managed orchestration — Agent handles KB retrieval + tool routing automatically. Trade-off: less control, faster to production.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▸ VPC Interface Endpoint vs NAT 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718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D4E4E"/>
                </a:solidFill>
                <a:latin typeface="Calibri"/>
              </a:defRPr>
            </a:pPr>
            <a:r>
              <a:t>Chose VPC Endpoint for API Gateway. Keeps traffic on AWS backbone, saves ~$32/month NAT cost, reduces latency.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▸ Lambda Chat Outside VPC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0690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D4E4E"/>
                </a:solidFill>
                <a:latin typeface="Calibri"/>
              </a:defRPr>
            </a:pPr>
            <a:r>
              <a:t>No vpc_config — calls Bedrock directly via AWS internal network. Avoids cold start ENI delays (5-10s).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▸ What Didn't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1663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D4E4E"/>
                </a:solidFill>
                <a:latin typeface="Calibri"/>
              </a:defRPr>
            </a:pPr>
            <a:r>
              <a:t>DeepSeek V3.2 via Terraform foundation_model failed. Fix: lifecycle ignore_changes + manual console config.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E7624"/>
                </a:solidFill>
                <a:latin typeface="Calibri"/>
              </a:defRPr>
            </a:pPr>
            <a:r>
              <a:t>01 •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Request Flow &amp; Orchestration Loop</a:t>
            </a:r>
          </a:p>
        </p:txBody>
      </p:sp>
      <p:pic>
        <p:nvPicPr>
          <p:cNvPr id="4" name="Picture 3" descr="w4_reques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913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E7624"/>
                </a:solidFill>
                <a:latin typeface="Calibri"/>
              </a:defRPr>
            </a:pPr>
            <a:r>
              <a:t>01 • TOOL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Agent Decision Logic — KB vs Tools</a:t>
            </a:r>
          </a:p>
        </p:txBody>
      </p:sp>
      <p:pic>
        <p:nvPicPr>
          <p:cNvPr id="4" name="Picture 3" descr="w4_tool_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4786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AC4E"/>
                </a:solidFill>
                <a:latin typeface="Calibri"/>
              </a:defRPr>
            </a:pPr>
            <a:r>
              <a:t>03 • DEMO L1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L1 — Simple RAG (Retrieval)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D4E4E"/>
                </a:solidFill>
                <a:latin typeface="Calibri"/>
              </a:defRPr>
            </a:pPr>
            <a:r>
              <a:t>Single-doc retrieval with source citation. KB: 36 markdown docs → Titan Embed v2 → OpenSearch Serverless</a:t>
            </a:r>
          </a:p>
        </p:txBody>
      </p:sp>
      <p:pic>
        <p:nvPicPr>
          <p:cNvPr id="5" name="Picture 4" descr="l1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486400" cy="6295072"/>
          </a:xfrm>
          <a:prstGeom prst="rect">
            <a:avLst/>
          </a:prstGeom>
        </p:spPr>
      </p:pic>
      <p:pic>
        <p:nvPicPr>
          <p:cNvPr id="6" name="Picture 5" descr="l1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86400" cy="77414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BC1"/>
                </a:solidFill>
                <a:latin typeface="Calibri"/>
              </a:defRPr>
            </a:pPr>
            <a:r>
              <a:t>03 • DEMO L2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L2 — Multi-Source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D4E4E"/>
                </a:solidFill>
                <a:latin typeface="Calibri"/>
              </a:defRPr>
            </a:pPr>
            <a:r>
              <a:t>Multi-doc synthesis &amp; conflict resolution. Agent prefers most recent version (status='current' over 'archived')</a:t>
            </a:r>
          </a:p>
        </p:txBody>
      </p:sp>
      <p:pic>
        <p:nvPicPr>
          <p:cNvPr id="5" name="Picture 4" descr="l2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486400" cy="6272212"/>
          </a:xfrm>
          <a:prstGeom prst="rect">
            <a:avLst/>
          </a:prstGeom>
        </p:spPr>
      </p:pic>
      <p:pic>
        <p:nvPicPr>
          <p:cNvPr id="6" name="Picture 5" descr="l2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86400" cy="94205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E7624"/>
                </a:solidFill>
                <a:latin typeface="Calibri"/>
              </a:defRPr>
            </a:pPr>
            <a:r>
              <a:t>03 • DEMO L3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L3 — Tool-Augmented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D4E4E"/>
                </a:solidFill>
                <a:latin typeface="Calibri"/>
              </a:defRPr>
            </a:pPr>
            <a:r>
              <a:t>6 tools: query_database, get_service_metrics, get_service_status, list_services, get_incident_history, compare_services</a:t>
            </a:r>
          </a:p>
        </p:txBody>
      </p:sp>
      <p:pic>
        <p:nvPicPr>
          <p:cNvPr id="5" name="Picture 4" descr="l3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486400" cy="6772275"/>
          </a:xfrm>
          <a:prstGeom prst="rect">
            <a:avLst/>
          </a:prstGeom>
        </p:spPr>
      </p:pic>
      <p:pic>
        <p:nvPicPr>
          <p:cNvPr id="6" name="Picture 5" descr="l3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86400" cy="985357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5439A"/>
                </a:solidFill>
                <a:latin typeface="Calibri"/>
              </a:defRPr>
            </a:pPr>
            <a:r>
              <a:t>03 • DEMO L4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L4 — Memory (Multi-turn Conversation)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D4E4E"/>
                </a:solidFill>
                <a:latin typeface="Calibri"/>
              </a:defRPr>
            </a:pPr>
            <a:r>
              <a:t>Bedrock Agent sessionId (TTL: 1800s). Pronouns resolved across turns without user repeating context.</a:t>
            </a:r>
          </a:p>
        </p:txBody>
      </p:sp>
      <p:pic>
        <p:nvPicPr>
          <p:cNvPr id="5" name="Picture 4" descr="l4_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144000" cy="318128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E7624"/>
                </a:solidFill>
                <a:latin typeface="Calibri"/>
              </a:defRPr>
            </a:pPr>
            <a:r>
              <a:t>03 •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Bonus A — Observability Dashboard (+0.5)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D4E4E"/>
                </a:solidFill>
                <a:latin typeface="Calibri"/>
              </a:defRPr>
            </a:pPr>
            <a:r>
              <a:t>Frontend displays pipeline internals: source tags (green), tool badges (purple), query details, full trace</a:t>
            </a:r>
          </a:p>
        </p:txBody>
      </p:sp>
      <p:pic>
        <p:nvPicPr>
          <p:cNvPr id="5" name="Picture 4" descr="bonus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144000" cy="109866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E7624"/>
                </a:solidFill>
                <a:latin typeface="Calibri"/>
              </a:defRPr>
            </a:pPr>
            <a:r>
              <a:t>03 •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Bonus C — Knowledge Base Sync (+0.5)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Automated via Terraform — no manual intervention needed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How it works: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  1. Upload .md files to S3 (MD5 hash change detected)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  2. null_resource.kb_sync triggers aws bedrock-agent start-ingestion-job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  3. Polls until COMPLETE (timeout: 10 min)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Result: Knowledge Base stays in sync with latest documents</a:t>
            </a: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4D4E4E"/>
                </a:solidFill>
                <a:latin typeface="Calibri"/>
              </a:defRPr>
            </a:pPr>
            <a:r>
              <a:t>Evidence: terraform/modules/ai_engine/main.tf — kb_sync resource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E7624"/>
                </a:solidFill>
                <a:latin typeface="Calibri"/>
              </a:defRPr>
            </a:pPr>
            <a:r>
              <a:t>04 •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Hardest Level: L3 — Tool-Augmented RAG</a:t>
            </a: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Why:</a:t>
            </a: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  • Tool descriptions must be extremely precise</a:t>
            </a: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  • "Gets data" is useless — "Returns CURRENT live metrics;</a:t>
            </a: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    for HISTORICAL data use query_database" made the difference</a:t>
            </a: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  • Iterated descriptions multiple times before agent routed correctly</a:t>
            </a: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What we'd do differently with one more day:</a:t>
            </a: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  • Add query rewriting for L4 (pronouns → explicit references)</a:t>
            </a: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  • Implement automated testing with question JSON files</a:t>
            </a:r>
          </a:p>
          <a:p>
            <a:pPr>
              <a:spcBef>
                <a:spcPts val="600"/>
              </a:spcBef>
              <a:defRPr sz="1700">
                <a:solidFill>
                  <a:srgbClr val="4D4E4E"/>
                </a:solidFill>
                <a:latin typeface="Calibri"/>
              </a:defRPr>
            </a:pPr>
            <a:r>
              <a:t>  • Add fallback error messages when Monitoring API is unreachable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E7624"/>
                </a:solidFill>
                <a:latin typeface="Calibri"/>
              </a:defRPr>
            </a:pPr>
            <a:r>
              <a:t>Group 9 — GeekBrain AI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D5DD"/>
                </a:solidFill>
                <a:latin typeface="Calibri"/>
              </a:defRPr>
            </a:pPr>
            <a:r>
              <a:t>Evidence Pack: docs/W4_evidence.md</a:t>
            </a:r>
            <a:br/>
            <a:r>
              <a:t>Repo: github.com/hoang-trong-tan/G9-W4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