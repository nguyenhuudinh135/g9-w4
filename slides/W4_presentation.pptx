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914400"/>
            <a:ext cx="6400800" cy="64008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25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FE7624"/>
                </a:solidFill>
                <a:latin typeface="Plus Jakarta Sans"/>
              </a:defRPr>
            </a:pPr>
            <a:r>
              <a:t>WEEK 4  •  GROUP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800" b="1">
                <a:solidFill>
                  <a:srgbClr val="FFFFFF"/>
                </a:solidFill>
                <a:latin typeface="Plus Jakarta Sans"/>
              </a:defRPr>
            </a:pPr>
            <a:r>
              <a:t>GeekBrain</a:t>
            </a:r>
            <a:br/>
            <a:r>
              <a:t>AI Assistant.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RAG + Tool Calling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Le Hoang Trung Kien  •  Tran Dinh Bao Long  •  Nguyen Duc Chinh  •  Nguyen Huu Dinh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Truong Thi My Quyen  •  Tran Van Duc  •  Hoang Trong Tan  •  Le Duy Khanh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Mentor: Anh Quang Phung (QA Lead, TechX)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LLM: DeepSeek V3.2 via Amazon Bedrock  •  Framework: Bedrock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E293B"/>
                </a:solidFill>
                <a:latin typeface="Plus Jakarta Sans"/>
              </a:defRPr>
            </a:pPr>
            <a:r>
              <a:t>What we'll cover.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65176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System diagram, key decisions,</a:t>
            </a:r>
            <a:br/>
            <a:r>
              <a:t>data flow through the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828800"/>
            <a:ext cx="265176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Individual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Random members explain how</a:t>
            </a:r>
            <a:br/>
            <a:r>
              <a:t>the system works internally.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5176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L1 → L2 → L3 → L4</a:t>
            </a:r>
            <a:br/>
            <a:r>
              <a:t>progressive demonstration.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854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828800"/>
            <a:ext cx="2651760" cy="63500"/>
          </a:xfrm>
          <a:prstGeom prst="rect">
            <a:avLst/>
          </a:prstGeom>
          <a:solidFill>
            <a:srgbClr val="854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04  Lessons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Hardest level and what</a:t>
            </a:r>
            <a:br/>
            <a:r>
              <a:t>we would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How requests flow through Bedrock Agent, Knowledge Base, and Tools</a:t>
            </a:r>
            <a:br/>
            <a:r>
              <a:t>— all on AWS with no NAT Gateway.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pic>
        <p:nvPicPr>
          <p:cNvPr id="4" name="Picture 3" descr="w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979777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Key Technical Decisions.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2120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Bedrock Agents vs Custom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Managed orchestration. Agent handles</a:t>
            </a:r>
            <a:br/>
            <a:r>
              <a:t>KB retrieval + tool routing automatically.</a:t>
            </a:r>
            <a:br/>
            <a:r>
              <a:t>Less control, faster to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VPC Interface Endpoint (No NAT)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VPC Endpoint for execute-api.</a:t>
            </a:r>
            <a:br/>
            <a:r>
              <a:t>Traffic stays on AWS backbone.</a:t>
            </a:r>
            <a:br/>
            <a:r>
              <a:t>No NAT Gateway needed — saves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B3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5212080" cy="63500"/>
          </a:xfrm>
          <a:prstGeom prst="rect">
            <a:avLst/>
          </a:prstGeom>
          <a:solidFill>
            <a:srgbClr val="00B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Lambda Chat Outside VPC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No vpc_config — calls Bedrock via</a:t>
            </a:r>
            <a:br/>
            <a:r>
              <a:t>AWS internal network. Avoids cold</a:t>
            </a:r>
            <a:br/>
            <a:r>
              <a:t>start ENI delays (5-10s).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2120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Didn't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DeepSeek V3.2 via Terraform</a:t>
            </a:r>
            <a:br/>
            <a:r>
              <a:t>foundation_model param failed.</a:t>
            </a:r>
            <a:br/>
            <a:r>
              <a:t>Fix: lifecycle { ignore_changes }</a:t>
            </a:r>
            <a:br/>
            <a:r>
              <a:t>+ manual console config.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Request Flow &amp; Orchestration Loop.</a:t>
            </a:r>
          </a:p>
        </p:txBody>
      </p:sp>
      <p:pic>
        <p:nvPicPr>
          <p:cNvPr id="4" name="Picture 3" descr="w4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51230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TOOL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Agent Decision Logic — KB vs Tools.</a:t>
            </a:r>
          </a:p>
        </p:txBody>
      </p:sp>
      <p:pic>
        <p:nvPicPr>
          <p:cNvPr id="4" name="Picture 3" descr="w4_tool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73078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Live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L1 → L2 → L3 → L4 — progressive levels of AI capability.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AC4E"/>
                </a:solidFill>
                <a:latin typeface="Plus Jakarta Sans"/>
              </a:defRPr>
            </a:pPr>
            <a:r>
              <a:t>L1 •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L1 — Simple RAG (Retrieval).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36 markdown docs → Titan Embed v2 (1024d) → OpenSearch Serverless → top-K chunks → answer + source citation</a:t>
            </a:r>
          </a:p>
        </p:txBody>
      </p:sp>
      <p:pic>
        <p:nvPicPr>
          <p:cNvPr id="5" name="Picture 4" descr="l1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3984675" cy="4572000"/>
          </a:xfrm>
          <a:prstGeom prst="rect">
            <a:avLst/>
          </a:prstGeom>
        </p:spPr>
      </p:pic>
      <p:pic>
        <p:nvPicPr>
          <p:cNvPr id="6" name="Picture 5" descr="l1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324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7BC1"/>
                </a:solidFill>
                <a:latin typeface="Plus Jakarta Sans"/>
              </a:defRPr>
            </a:pPr>
            <a:r>
              <a:t>L2 • MULTI-SOURCE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L2 — Multi-Source Retrieval.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Multi-doc synthesis &amp; conflict resolution. Agent prefers most recent version (status='current' over 'archived')</a:t>
            </a:r>
          </a:p>
        </p:txBody>
      </p:sp>
      <p:pic>
        <p:nvPicPr>
          <p:cNvPr id="5" name="Picture 4" descr="l2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3999198" cy="4572000"/>
          </a:xfrm>
          <a:prstGeom prst="rect">
            <a:avLst/>
          </a:prstGeom>
        </p:spPr>
      </p:pic>
      <p:pic>
        <p:nvPicPr>
          <p:cNvPr id="6" name="Picture 5" descr="l2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266265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L3 •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L3 — Tool-Augmented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6 tools: query_database, get_service_metrics, get_service_status, list_services, get_incident_history, compare_services</a:t>
            </a:r>
          </a:p>
        </p:txBody>
      </p:sp>
      <p:pic>
        <p:nvPicPr>
          <p:cNvPr id="5" name="Picture 4" descr="l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3703898" cy="4572000"/>
          </a:xfrm>
          <a:prstGeom prst="rect">
            <a:avLst/>
          </a:prstGeom>
        </p:spPr>
      </p:pic>
      <p:pic>
        <p:nvPicPr>
          <p:cNvPr id="6" name="Picture 5" descr="l3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25456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85439A"/>
                </a:solidFill>
                <a:latin typeface="Plus Jakarta Sans"/>
              </a:defRPr>
            </a:pPr>
            <a:r>
              <a:t>L4 •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L4 — Memory (Multi-turn).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Bedrock Agent sessionId (TTL: 1800s). Pronouns like "its costs" and "that service" resolved across turns.</a:t>
            </a:r>
          </a:p>
        </p:txBody>
      </p:sp>
      <p:pic>
        <p:nvPicPr>
          <p:cNvPr id="5" name="Picture 4" descr="l4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131413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A •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Observability Dashboard (+0.5)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Pipeline internals: source tags (green), tool badges (purple), query details, full orchestration trace.</a:t>
            </a:r>
          </a:p>
        </p:txBody>
      </p:sp>
      <p:pic>
        <p:nvPicPr>
          <p:cNvPr id="5" name="Picture 4" descr="bonu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380519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C • KB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Knowledge Base Auto-Sync (+0.5)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Detect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MD5 hash trigger detects</a:t>
            </a:r>
            <a:br/>
            <a:r>
              <a:t>.md file updates in S3.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Start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null_resource.kb_sync runs</a:t>
            </a:r>
            <a:br/>
            <a:r>
              <a:t>aws bedrock-agent</a:t>
            </a:r>
            <a:br/>
            <a:r>
              <a:t>start-ingestion-job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Poll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Polls until COMPLETE.</a:t>
            </a:r>
            <a:br/>
            <a:r>
              <a:t>Timeout: 10 min.</a:t>
            </a:r>
            <a:br/>
            <a:r>
              <a:t>Fully automated via Terraform.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698695"/>
                </a:solidFill>
                <a:latin typeface="JetBrains Mono"/>
              </a:defRPr>
            </a:pPr>
            <a:r>
              <a:t>Evidence: terraform/modules/ai_engine/main.tf — kb_sync resource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04 •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Lessons Learned.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C4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Hardest Level: 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C4D5DD"/>
                </a:solidFill>
                <a:latin typeface="Plus Jakarta Sans"/>
              </a:defRPr>
            </a:pPr>
            <a:r>
              <a:t>Tool descriptions must be</a:t>
            </a:r>
            <a:br/>
            <a:r>
              <a:t>extremely precise.</a:t>
            </a:r>
            <a:br/>
            <a:br/>
            <a:r>
              <a:t>"Gets data" → useless.</a:t>
            </a:r>
            <a:br/>
            <a:r>
              <a:t>"Returns CURRENT live metrics;</a:t>
            </a:r>
            <a:br/>
            <a:r>
              <a:t>for HISTORICAL data use</a:t>
            </a:r>
            <a:br/>
            <a:r>
              <a:t>query_database" → works.</a:t>
            </a:r>
            <a:br/>
            <a:br/>
            <a:r>
              <a:t>Iterated multiple times before</a:t>
            </a:r>
            <a:br/>
            <a:r>
              <a:t>agent routed correctly.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we'd do differently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• Add query rewriting for L4</a:t>
            </a:r>
            <a:br/>
            <a:r>
              <a:t>  (pronouns → explicit references)</a:t>
            </a:r>
            <a:br/>
            <a:br/>
            <a:r>
              <a:t>• Automated testing with</a:t>
            </a:r>
            <a:br/>
            <a:r>
              <a:t>  question JSON files</a:t>
            </a:r>
            <a:br/>
            <a:br/>
            <a:r>
              <a:t>• Fallback error messages when</a:t>
            </a:r>
            <a:br/>
            <a:r>
              <a:t>  Monitoring API is unreachable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6200"/>
              </a:lnSpc>
              <a:defRPr sz="5200" b="1">
                <a:solidFill>
                  <a:srgbClr val="FFFFFF"/>
                </a:solidFill>
                <a:latin typeface="Plus Jakarta Sans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Group 9 — GeekBrain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Evidence Pack: docs/W4_evidence.md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Repo: github.com/hoang-trong-tan/G9-W4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